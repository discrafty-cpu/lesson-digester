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2200" b="1" i="0">
                <a:solidFill>
                  <a:srgbClr val="FFFFFF"/>
                </a:solidFill>
                <a:latin typeface="Arial Black"/>
              </a:defRPr>
            </a:pPr>
            <a:r>
              <a:t>WATCH OUT — Common Misconceptions: Circumference &amp; 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73152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78407"/>
            <a:ext cx="4114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96695"/>
            <a:ext cx="411480" cy="365760"/>
          </a:xfrm>
          <a:prstGeom prst="rect">
            <a:avLst/>
          </a:prstGeom>
          <a:noFill/>
        </p:spPr>
        <p:txBody a:anchor="ctr">
          <a:bodyPr wrap="square"/>
          <a:lstStyle/>
          <a:p>
            <a:pPr algn="ctr">
              <a:defRPr sz="2000" b="1" i="0">
                <a:solidFill>
                  <a:srgbClr val="FFFFFF"/>
                </a:solidFill>
                <a:latin typeface="Arial Black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41832"/>
            <a:ext cx="7589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Students: </a:t>
            </a:r>
            <a:r>
              <a:rPr sz="1600" b="0" i="0">
                <a:solidFill>
                  <a:srgbClr val="2D3748"/>
                </a:solidFill>
                <a:latin typeface="Calibri"/>
              </a:rPr>
              <a:t>Confusing r² with r×2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3657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Why: </a:t>
            </a:r>
            <a:r>
              <a:rPr sz="1400" b="0" i="1">
                <a:solidFill>
                  <a:srgbClr val="64748B"/>
                </a:solidFill>
                <a:latin typeface="Calibri"/>
              </a:rPr>
              <a:t>Students read 'r squared' but compute 'r times 2' — the notation is unfamiliar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371600"/>
            <a:ext cx="3931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Address: </a:t>
            </a:r>
            <a:r>
              <a:rPr sz="1400" b="0" i="0">
                <a:solidFill>
                  <a:srgbClr val="2D3748"/>
                </a:solidFill>
                <a:latin typeface="Calibri"/>
              </a:rPr>
              <a:t>Use physical squares: draw a square with side r and show it has area r×r, not r+r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58568"/>
            <a:ext cx="85953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258568"/>
            <a:ext cx="73152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68296"/>
            <a:ext cx="4114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86584"/>
            <a:ext cx="411480" cy="365760"/>
          </a:xfrm>
          <a:prstGeom prst="rect">
            <a:avLst/>
          </a:prstGeom>
          <a:noFill/>
        </p:spPr>
        <p:txBody a:anchor="ctr">
          <a:bodyPr wrap="square"/>
          <a:lstStyle/>
          <a:p>
            <a:pPr algn="ctr">
              <a:defRPr sz="2000" b="1" i="0">
                <a:solidFill>
                  <a:srgbClr val="FFFFFF"/>
                </a:solidFill>
                <a:latin typeface="Arial Black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31720"/>
            <a:ext cx="7589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Students: </a:t>
            </a:r>
            <a:r>
              <a:rPr sz="1600" b="0" i="0">
                <a:solidFill>
                  <a:srgbClr val="2D3748"/>
                </a:solidFill>
                <a:latin typeface="Calibri"/>
              </a:rPr>
              <a:t>Interchanging circumference and area formulas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61487"/>
            <a:ext cx="3657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Why: </a:t>
            </a:r>
            <a:r>
              <a:rPr sz="1400" b="0" i="1">
                <a:solidFill>
                  <a:srgbClr val="64748B"/>
                </a:solidFill>
                <a:latin typeface="Calibri"/>
              </a:rPr>
              <a:t>Both use π and r, so students mix them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761487"/>
            <a:ext cx="3931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Address: </a:t>
            </a:r>
            <a:r>
              <a:rPr sz="1400" b="0" i="0">
                <a:solidFill>
                  <a:srgbClr val="2D3748"/>
                </a:solidFill>
                <a:latin typeface="Calibri"/>
              </a:rPr>
              <a:t>Anchor to meaning: circumference = distance AROUND (like a fence), area = space INSIDE (like carpet)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48456"/>
            <a:ext cx="85953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648456"/>
            <a:ext cx="73152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58184"/>
            <a:ext cx="4114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76472"/>
            <a:ext cx="411480" cy="365760"/>
          </a:xfrm>
          <a:prstGeom prst="rect">
            <a:avLst/>
          </a:prstGeom>
          <a:noFill/>
        </p:spPr>
        <p:txBody a:anchor="ctr">
          <a:bodyPr wrap="square"/>
          <a:lstStyle/>
          <a:p>
            <a:pPr algn="ctr">
              <a:defRPr sz="2000" b="1" i="0">
                <a:solidFill>
                  <a:srgbClr val="FFFFFF"/>
                </a:solidFill>
                <a:latin typeface="Arial Black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21608"/>
            <a:ext cx="7589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Students: </a:t>
            </a:r>
            <a:r>
              <a:rPr sz="1600" b="0" i="0">
                <a:solidFill>
                  <a:srgbClr val="2D3748"/>
                </a:solidFill>
                <a:latin typeface="Calibri"/>
              </a:rPr>
              <a:t>Treating π = 3.14 as exact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51376"/>
            <a:ext cx="3657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Why: </a:t>
            </a:r>
            <a:r>
              <a:rPr sz="1400" b="0" i="1">
                <a:solidFill>
                  <a:srgbClr val="64748B"/>
                </a:solidFill>
                <a:latin typeface="Calibri"/>
              </a:rPr>
              <a:t>Students see 3.14 so often they think it's the true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151376"/>
            <a:ext cx="3931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Address: </a:t>
            </a:r>
            <a:r>
              <a:rPr sz="1400" b="0" i="0">
                <a:solidFill>
                  <a:srgbClr val="2D3748"/>
                </a:solidFill>
                <a:latin typeface="Calibri"/>
              </a:rPr>
              <a:t>Show π on a number line, discuss that 3.14 is an approximation, compare 22/7 and 3.14159...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MCA-III: 7.3.1.1 — Source: MN StemTC Frameworks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2200" b="1" i="0">
                <a:solidFill>
                  <a:srgbClr val="FFFFFF"/>
                </a:solidFill>
                <a:latin typeface="Arial Black"/>
              </a:defRPr>
            </a:pPr>
            <a:r>
              <a:t>Differentiation Strategies: Circumference &amp; 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2743200" cy="25603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2743200" cy="54864"/>
          </a:xfrm>
          <a:prstGeom prst="rect">
            <a:avLst/>
          </a:prstGeom>
          <a:solidFill>
            <a:srgbClr val="D48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005839"/>
            <a:ext cx="246888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1" i="0">
                <a:solidFill>
                  <a:srgbClr val="D4870F"/>
                </a:solidFill>
                <a:latin typeface="Calibri"/>
              </a:defRPr>
            </a:pPr>
            <a:r>
              <a:t>Emergent Learners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371600"/>
            <a:ext cx="2468880" cy="1920239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0" i="0">
                <a:solidFill>
                  <a:srgbClr val="2D3748"/>
                </a:solidFill>
                <a:latin typeface="Calibri"/>
              </a:defRPr>
            </a:pPr>
            <a:r>
              <a:t>Provide formula reference cards. Use physical circles (paper plates, jar lids) for measuring. Start with friendly numbers where π×r² comes out to whole numbers (r=1, r=10). Allow calculators for computation.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868680"/>
            <a:ext cx="2743200" cy="256032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005839"/>
            <a:ext cx="246888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1" i="0">
                <a:solidFill>
                  <a:srgbClr val="3B82F6"/>
                </a:solidFill>
                <a:latin typeface="Calibri"/>
              </a:defRPr>
            </a:pPr>
            <a:r>
              <a:t>English Language Learners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468880" cy="1920239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0" i="0">
                <a:solidFill>
                  <a:srgbClr val="2D3748"/>
                </a:solidFill>
                <a:latin typeface="Calibri"/>
              </a:defRPr>
            </a:pPr>
            <a:r>
              <a:t>Post visual vocabulary wall with circle parts labeled in both languages. Use the 'measurement discovery' activity — physical measuring of real circles with string. Key cognates: circle/círculo, radius/radio, diameter/diámetro.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868680"/>
            <a:ext cx="2743200" cy="2560320"/>
          </a:xfrm>
          <a:prstGeom prst="rect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868680"/>
            <a:ext cx="2743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005839"/>
            <a:ext cx="246888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1" i="0">
                <a:solidFill>
                  <a:srgbClr val="0D9488"/>
                </a:solidFill>
                <a:latin typeface="Calibri"/>
              </a:defRPr>
            </a:pPr>
            <a:r>
              <a:t>Extending the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371600"/>
            <a:ext cx="2468880" cy="1920239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0" i="0">
                <a:solidFill>
                  <a:srgbClr val="2D3748"/>
                </a:solidFill>
                <a:latin typeface="Calibri"/>
              </a:defRPr>
            </a:pPr>
            <a:r>
              <a:t>Explore sectors (fractional parts of circles). Challenge: if you double the radius, what happens to circumference? To area? Why are the answers different? Connect to optimization problems (max area for given perimeter).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85953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54864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03320"/>
            <a:ext cx="228600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1" i="0">
                <a:solidFill>
                  <a:srgbClr val="1E2761"/>
                </a:solidFill>
                <a:latin typeface="Calibri"/>
              </a:defRPr>
            </a:pPr>
            <a:r>
              <a:t>Essential Understandings: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05072"/>
            <a:ext cx="8229600" cy="5943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200" b="0" i="1">
                <a:solidFill>
                  <a:srgbClr val="2D3748"/>
                </a:solidFill>
                <a:latin typeface="Calibri"/>
              </a:defRPr>
            </a:pPr>
            <a:r>
              <a:t>Pi (π) is the constant of proportionality between circumference and diameter — C/d = π for ALL circles | Area formula A = πr² can be understood by 'unwrapping' a circle into triangular sectors | Circumference is a linear measure (units), area is a square measure (square units)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MCA-III: 7.3.1.1 — Source: MN StemTC Frameworks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2200" b="1" i="0">
                <a:solidFill>
                  <a:srgbClr val="FFFFFF"/>
                </a:solidFill>
                <a:latin typeface="Arial Black"/>
              </a:defRPr>
            </a:pPr>
            <a:r>
              <a:t>WATCH OUT — Common Misconceptions: Pythagorean Theorem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73152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78407"/>
            <a:ext cx="4114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96695"/>
            <a:ext cx="411480" cy="365760"/>
          </a:xfrm>
          <a:prstGeom prst="rect">
            <a:avLst/>
          </a:prstGeom>
          <a:noFill/>
        </p:spPr>
        <p:txBody a:anchor="ctr">
          <a:bodyPr wrap="square"/>
          <a:lstStyle/>
          <a:p>
            <a:pPr algn="ctr">
              <a:defRPr sz="2000" b="1" i="0">
                <a:solidFill>
                  <a:srgbClr val="FFFFFF"/>
                </a:solidFill>
                <a:latin typeface="Arial Black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41832"/>
            <a:ext cx="7589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Students: </a:t>
            </a:r>
            <a:r>
              <a:rPr sz="1600" b="0" i="0">
                <a:solidFill>
                  <a:srgbClr val="2D3748"/>
                </a:solidFill>
                <a:latin typeface="Calibri"/>
              </a:rPr>
              <a:t>Using a² + b² = c² for non-right triangles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3657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Why: </a:t>
            </a:r>
            <a:r>
              <a:rPr sz="1400" b="0" i="1">
                <a:solidFill>
                  <a:srgbClr val="64748B"/>
                </a:solidFill>
                <a:latin typeface="Calibri"/>
              </a:rPr>
              <a:t>Students apply the formula to every triangle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371600"/>
            <a:ext cx="3931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Address: </a:t>
            </a:r>
            <a:r>
              <a:rPr sz="1400" b="0" i="0">
                <a:solidFill>
                  <a:srgbClr val="2D3748"/>
                </a:solidFill>
                <a:latin typeface="Calibri"/>
              </a:rPr>
              <a:t>Always check: IS there a right angle? If not, Pythagorean theorem doesn't apply.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58568"/>
            <a:ext cx="85953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258568"/>
            <a:ext cx="73152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68296"/>
            <a:ext cx="4114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86584"/>
            <a:ext cx="411480" cy="365760"/>
          </a:xfrm>
          <a:prstGeom prst="rect">
            <a:avLst/>
          </a:prstGeom>
          <a:noFill/>
        </p:spPr>
        <p:txBody a:anchor="ctr">
          <a:bodyPr wrap="square"/>
          <a:lstStyle/>
          <a:p>
            <a:pPr algn="ctr">
              <a:defRPr sz="2000" b="1" i="0">
                <a:solidFill>
                  <a:srgbClr val="FFFFFF"/>
                </a:solidFill>
                <a:latin typeface="Arial Black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31720"/>
            <a:ext cx="7589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Students: </a:t>
            </a:r>
            <a:r>
              <a:rPr sz="1600" b="0" i="0">
                <a:solidFill>
                  <a:srgbClr val="2D3748"/>
                </a:solidFill>
                <a:latin typeface="Calibri"/>
              </a:rPr>
              <a:t>Not identifying the hypotenuse correctly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61487"/>
            <a:ext cx="3657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Why: </a:t>
            </a:r>
            <a:r>
              <a:rPr sz="1400" b="0" i="1">
                <a:solidFill>
                  <a:srgbClr val="64748B"/>
                </a:solidFill>
                <a:latin typeface="Calibri"/>
              </a:rPr>
              <a:t>Students assume c is always a specific side regardless of 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761487"/>
            <a:ext cx="3931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Address: </a:t>
            </a:r>
            <a:r>
              <a:rPr sz="1400" b="0" i="0">
                <a:solidFill>
                  <a:srgbClr val="2D3748"/>
                </a:solidFill>
                <a:latin typeface="Calibri"/>
              </a:rPr>
              <a:t>Hypotenuse = longest side = across from the right angle. Label it FIRST before writing the equation.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48456"/>
            <a:ext cx="85953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648456"/>
            <a:ext cx="73152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58184"/>
            <a:ext cx="4114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76472"/>
            <a:ext cx="411480" cy="365760"/>
          </a:xfrm>
          <a:prstGeom prst="rect">
            <a:avLst/>
          </a:prstGeom>
          <a:noFill/>
        </p:spPr>
        <p:txBody a:anchor="ctr">
          <a:bodyPr wrap="square"/>
          <a:lstStyle/>
          <a:p>
            <a:pPr algn="ctr">
              <a:defRPr sz="2000" b="1" i="0">
                <a:solidFill>
                  <a:srgbClr val="FFFFFF"/>
                </a:solidFill>
                <a:latin typeface="Arial Black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21608"/>
            <a:ext cx="7589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Students: </a:t>
            </a:r>
            <a:r>
              <a:rPr sz="1600" b="0" i="0">
                <a:solidFill>
                  <a:srgbClr val="2D3748"/>
                </a:solidFill>
                <a:latin typeface="Calibri"/>
              </a:rPr>
              <a:t>Computing a + b = c instead of a² + b² = c²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51376"/>
            <a:ext cx="3657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Why: </a:t>
            </a:r>
            <a:r>
              <a:rPr sz="1400" b="0" i="1">
                <a:solidFill>
                  <a:srgbClr val="64748B"/>
                </a:solidFill>
                <a:latin typeface="Calibri"/>
              </a:rPr>
              <a:t>Skipping the squaring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151376"/>
            <a:ext cx="3931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Address: </a:t>
            </a:r>
            <a:r>
              <a:rPr sz="1400" b="0" i="0">
                <a:solidFill>
                  <a:srgbClr val="2D3748"/>
                </a:solidFill>
                <a:latin typeface="Calibri"/>
              </a:rPr>
              <a:t>Emphasize: SQUARE each leg, ADD the squares, then SQUARE ROOT the sum. Use area squares visually.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MCA-III: 8.3.1.1 | 8.3.1.2 | 8.3.1.3 — Source: MN StemTC Frameworks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2200" b="1" i="0">
                <a:solidFill>
                  <a:srgbClr val="FFFFFF"/>
                </a:solidFill>
                <a:latin typeface="Arial Black"/>
              </a:defRPr>
            </a:pPr>
            <a:r>
              <a:t>Differentiation Strategies: Pythagorean Theorem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2743200" cy="25603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2743200" cy="54864"/>
          </a:xfrm>
          <a:prstGeom prst="rect">
            <a:avLst/>
          </a:prstGeom>
          <a:solidFill>
            <a:srgbClr val="D48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005839"/>
            <a:ext cx="246888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1" i="0">
                <a:solidFill>
                  <a:srgbClr val="D4870F"/>
                </a:solidFill>
                <a:latin typeface="Calibri"/>
              </a:defRPr>
            </a:pPr>
            <a:r>
              <a:t>Emergent Learners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371600"/>
            <a:ext cx="2468880" cy="1920239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0" i="0">
                <a:solidFill>
                  <a:srgbClr val="2D3748"/>
                </a:solidFill>
                <a:latin typeface="Calibri"/>
              </a:defRPr>
            </a:pPr>
            <a:r>
              <a:t>Use physical square tiles to build squares on each side of a right triangle. Start with Pythagorean triples (3-4-5, 5-12-13) so answers are whole numbers. Provide formula cards.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868680"/>
            <a:ext cx="2743200" cy="256032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005839"/>
            <a:ext cx="246888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1" i="0">
                <a:solidFill>
                  <a:srgbClr val="3B82F6"/>
                </a:solidFill>
                <a:latin typeface="Calibri"/>
              </a:defRPr>
            </a:pPr>
            <a:r>
              <a:t>English Language Learners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468880" cy="1920239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0" i="0">
                <a:solidFill>
                  <a:srgbClr val="2D3748"/>
                </a:solidFill>
                <a:latin typeface="Calibri"/>
              </a:defRPr>
            </a:pPr>
            <a:r>
              <a:t>Visual diagrams essential. Label hypotenuse and legs clearly. Use construction/real-world images (ladders, ramps). Cognates: hypotenuse/hipotenusa, triangle/triángulo.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868680"/>
            <a:ext cx="2743200" cy="2560320"/>
          </a:xfrm>
          <a:prstGeom prst="rect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868680"/>
            <a:ext cx="2743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005839"/>
            <a:ext cx="246888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1" i="0">
                <a:solidFill>
                  <a:srgbClr val="0D9488"/>
                </a:solidFill>
                <a:latin typeface="Calibri"/>
              </a:defRPr>
            </a:pPr>
            <a:r>
              <a:t>Extending the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371600"/>
            <a:ext cx="2468880" cy="1920239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0" i="0">
                <a:solidFill>
                  <a:srgbClr val="2D3748"/>
                </a:solidFill>
                <a:latin typeface="Calibri"/>
              </a:defRPr>
            </a:pPr>
            <a:r>
              <a:t>3D Pythagorean theorem (space diagonal of a box). Pythagorean triples patterns. Non-right triangle: when does a² + b² &gt; c²? &lt; c²? What does that mean geometrically?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85953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54864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03320"/>
            <a:ext cx="228600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1" i="0">
                <a:solidFill>
                  <a:srgbClr val="1E2761"/>
                </a:solidFill>
                <a:latin typeface="Calibri"/>
              </a:defRPr>
            </a:pPr>
            <a:r>
              <a:t>Essential Understandings: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05072"/>
            <a:ext cx="8229600" cy="5943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200" b="0" i="1">
                <a:solidFill>
                  <a:srgbClr val="2D3748"/>
                </a:solidFill>
                <a:latin typeface="Calibri"/>
              </a:defRPr>
            </a:pPr>
            <a:r>
              <a:t>a² + b² = c² ONLY works for right triangles — the right angle is essential | c is ALWAYS the hypotenuse (longest side, across from the right angle) | The theorem relates AREAS of squares built on each side — it's about area, not just side lengths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MCA-III: 8.3.1.1 | 8.3.1.2 | 8.3.1.3 — Source: MN StemTC Frameworks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2200" b="1" i="0">
                <a:solidFill>
                  <a:srgbClr val="FFFFFF"/>
                </a:solidFill>
                <a:latin typeface="Arial Black"/>
              </a:defRPr>
            </a:pPr>
            <a:r>
              <a:t>WATCH OUT — Common Misconceptions: Proportional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73152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78407"/>
            <a:ext cx="4114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96695"/>
            <a:ext cx="411480" cy="365760"/>
          </a:xfrm>
          <a:prstGeom prst="rect">
            <a:avLst/>
          </a:prstGeom>
          <a:noFill/>
        </p:spPr>
        <p:txBody a:anchor="ctr">
          <a:bodyPr wrap="square"/>
          <a:lstStyle/>
          <a:p>
            <a:pPr algn="ctr">
              <a:defRPr sz="2000" b="1" i="0">
                <a:solidFill>
                  <a:srgbClr val="FFFFFF"/>
                </a:solidFill>
                <a:latin typeface="Arial Black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41832"/>
            <a:ext cx="7589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Students: </a:t>
            </a:r>
            <a:r>
              <a:rPr sz="1600" b="0" i="0">
                <a:solidFill>
                  <a:srgbClr val="2D3748"/>
                </a:solidFill>
                <a:latin typeface="Calibri"/>
              </a:rPr>
              <a:t>Using additive instead of multiplicative reasoning for 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3657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Why: </a:t>
            </a:r>
            <a:r>
              <a:rPr sz="1400" b="0" i="1">
                <a:solidFill>
                  <a:srgbClr val="64748B"/>
                </a:solidFill>
                <a:latin typeface="Calibri"/>
              </a:rPr>
              <a:t>Students add to scale up instead of multiplying by the scale 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371600"/>
            <a:ext cx="3931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Address: </a:t>
            </a:r>
            <a:r>
              <a:rPr sz="1400" b="0" i="0">
                <a:solidFill>
                  <a:srgbClr val="2D3748"/>
                </a:solidFill>
                <a:latin typeface="Calibri"/>
              </a:rPr>
              <a:t>Compare: does adding 3 to every recipe measurement give the same result as tripling? Physical demonstrations.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58568"/>
            <a:ext cx="85953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258568"/>
            <a:ext cx="73152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68296"/>
            <a:ext cx="4114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86584"/>
            <a:ext cx="411480" cy="365760"/>
          </a:xfrm>
          <a:prstGeom prst="rect">
            <a:avLst/>
          </a:prstGeom>
          <a:noFill/>
        </p:spPr>
        <p:txBody a:anchor="ctr">
          <a:bodyPr wrap="square"/>
          <a:lstStyle/>
          <a:p>
            <a:pPr algn="ctr">
              <a:defRPr sz="2000" b="1" i="0">
                <a:solidFill>
                  <a:srgbClr val="FFFFFF"/>
                </a:solidFill>
                <a:latin typeface="Arial Black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31720"/>
            <a:ext cx="7589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Students: </a:t>
            </a:r>
            <a:r>
              <a:rPr sz="1600" b="0" i="0">
                <a:solidFill>
                  <a:srgbClr val="2D3748"/>
                </a:solidFill>
                <a:latin typeface="Calibri"/>
              </a:rPr>
              <a:t>Thinking slope is x/y instead of y/x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61487"/>
            <a:ext cx="3657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Why: </a:t>
            </a:r>
            <a:r>
              <a:rPr sz="1400" b="0" i="1">
                <a:solidFill>
                  <a:srgbClr val="64748B"/>
                </a:solidFill>
                <a:latin typeface="Calibri"/>
              </a:rPr>
              <a:t>Students reverse the ratio when computing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761487"/>
            <a:ext cx="3931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Address: </a:t>
            </a:r>
            <a:r>
              <a:rPr sz="1400" b="0" i="0">
                <a:solidFill>
                  <a:srgbClr val="2D3748"/>
                </a:solidFill>
                <a:latin typeface="Calibri"/>
              </a:rPr>
              <a:t>Anchor to unit rate language — 'miles PER hour' means miles÷hours = y÷x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48456"/>
            <a:ext cx="85953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648456"/>
            <a:ext cx="73152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58184"/>
            <a:ext cx="4114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76472"/>
            <a:ext cx="411480" cy="365760"/>
          </a:xfrm>
          <a:prstGeom prst="rect">
            <a:avLst/>
          </a:prstGeom>
          <a:noFill/>
        </p:spPr>
        <p:txBody a:anchor="ctr">
          <a:bodyPr wrap="square"/>
          <a:lstStyle/>
          <a:p>
            <a:pPr algn="ctr">
              <a:defRPr sz="2000" b="1" i="0">
                <a:solidFill>
                  <a:srgbClr val="FFFFFF"/>
                </a:solidFill>
                <a:latin typeface="Arial Black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21608"/>
            <a:ext cx="7589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Students: </a:t>
            </a:r>
            <a:r>
              <a:rPr sz="1600" b="0" i="0">
                <a:solidFill>
                  <a:srgbClr val="2D3748"/>
                </a:solidFill>
                <a:latin typeface="Calibri"/>
              </a:rPr>
              <a:t>Believing slope only exists on graphs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51376"/>
            <a:ext cx="3657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Why: </a:t>
            </a:r>
            <a:r>
              <a:rPr sz="1400" b="0" i="1">
                <a:solidFill>
                  <a:srgbClr val="64748B"/>
                </a:solidFill>
                <a:latin typeface="Calibri"/>
              </a:rPr>
              <a:t>Slope is taught graphically first, so students don't see it in tables or equations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151376"/>
            <a:ext cx="3931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Address: </a:t>
            </a:r>
            <a:r>
              <a:rPr sz="1400" b="0" i="0">
                <a:solidFill>
                  <a:srgbClr val="2D3748"/>
                </a:solidFill>
                <a:latin typeface="Calibri"/>
              </a:rPr>
              <a:t>Show the SAME constant appearing in table (y/x), graph (rise/run), and equation (k in y=kx)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MCA-III: 7.2.1.1 | 7.2.1.2 | 7.2.2.1 — Source: MN StemTC Frameworks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2200" b="1" i="0">
                <a:solidFill>
                  <a:srgbClr val="FFFFFF"/>
                </a:solidFill>
                <a:latin typeface="Arial Black"/>
              </a:defRPr>
            </a:pPr>
            <a:r>
              <a:t>Differentiation Strategies: Proportional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2743200" cy="25603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2743200" cy="54864"/>
          </a:xfrm>
          <a:prstGeom prst="rect">
            <a:avLst/>
          </a:prstGeom>
          <a:solidFill>
            <a:srgbClr val="D48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005839"/>
            <a:ext cx="246888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1" i="0">
                <a:solidFill>
                  <a:srgbClr val="D4870F"/>
                </a:solidFill>
                <a:latin typeface="Calibri"/>
              </a:defRPr>
            </a:pPr>
            <a:r>
              <a:t>Emergent Learners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371600"/>
            <a:ext cx="2468880" cy="1920239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0" i="0">
                <a:solidFill>
                  <a:srgbClr val="2D3748"/>
                </a:solidFill>
                <a:latin typeface="Calibri"/>
              </a:defRPr>
            </a:pPr>
            <a:r>
              <a:t>Provide step-by-step procedure cards. Use calculators. Start with whole-number unit rates. Use physical proportional situations (stacking books, measuring shadows). Provide tables with some cells pre-filled.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868680"/>
            <a:ext cx="2743200" cy="256032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005839"/>
            <a:ext cx="246888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1" i="0">
                <a:solidFill>
                  <a:srgbClr val="3B82F6"/>
                </a:solidFill>
                <a:latin typeface="Calibri"/>
              </a:defRPr>
            </a:pPr>
            <a:r>
              <a:t>English Language Learners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468880" cy="1920239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0" i="0">
                <a:solidFill>
                  <a:srgbClr val="2D3748"/>
                </a:solidFill>
                <a:latin typeface="Calibri"/>
              </a:defRPr>
            </a:pPr>
            <a:r>
              <a:t>Confusion between mathematical 'table' and furniture 'table' — clarify upfront. Pair with bilingual peer tutors. Use visual ratio tables. Key vocabulary: proportional/proporcional, rate/tasa, constant/constante.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868680"/>
            <a:ext cx="2743200" cy="2560320"/>
          </a:xfrm>
          <a:prstGeom prst="rect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868680"/>
            <a:ext cx="2743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005839"/>
            <a:ext cx="246888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1" i="0">
                <a:solidFill>
                  <a:srgbClr val="0D9488"/>
                </a:solidFill>
                <a:latin typeface="Calibri"/>
              </a:defRPr>
            </a:pPr>
            <a:r>
              <a:t>Extending the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371600"/>
            <a:ext cx="2468880" cy="1920239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0" i="0">
                <a:solidFill>
                  <a:srgbClr val="2D3748"/>
                </a:solidFill>
                <a:latin typeface="Calibri"/>
              </a:defRPr>
            </a:pPr>
            <a:r>
              <a:t>Compare direct vs inverse proportionality (y=kx vs xy=k). Cell phone plan comparison problem (one proportional, one not). Explore how changing k affects the slope of the graph using graphing technology.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85953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54864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03320"/>
            <a:ext cx="228600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400" b="1" i="0">
                <a:solidFill>
                  <a:srgbClr val="1E2761"/>
                </a:solidFill>
                <a:latin typeface="Calibri"/>
              </a:defRPr>
            </a:pPr>
            <a:r>
              <a:t>Essential Understandings: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05072"/>
            <a:ext cx="8229600" cy="5943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200" b="0" i="1">
                <a:solidFill>
                  <a:srgbClr val="2D3748"/>
                </a:solidFill>
                <a:latin typeface="Calibri"/>
              </a:defRPr>
            </a:pPr>
            <a:r>
              <a:t>A proportional relationship is y = kx where k is constant — the graph passes through the origin | The constant k (constant of proportionality) IS the slope and IS the unit rate | Not all linear relationships are proportional — only those passing through (0,0)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MCA-III: 7.2.1.1 | 7.2.1.2 | 7.2.2.1 — Source: MN StemTC Frameworks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